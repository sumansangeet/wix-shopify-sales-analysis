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8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0F2A4A"/>
                </a:solidFill>
                <a:latin typeface="Calibri"/>
              </a:defRPr>
            </a:pPr>
            <a:r>
              <a:rPr sz="1300" b="1" i="0" u="none" strike="noStrike">
                <a:solidFill>
                  <a:srgbClr val="0F2A4A"/>
                </a:solidFill>
                <a:latin typeface="Calibri"/>
              </a:rPr>
              <a:t>Daily Revenue ($)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E8388"/>
            </a:solidFill>
            <a:ln w="38100" cap="flat">
              <a:solidFill>
                <a:srgbClr val="0E8388"/>
              </a:solidFill>
              <a:prstDash val="solid"/>
              <a:round/>
            </a:ln>
            <a:effectLst/>
          </c:spPr>
          <c:invertIfNegative val="0"/>
          <c:dLbls>
            <c:numFmt formatCode="$#,##0,K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2A4A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0E8388"/>
              </a:solidFill>
              <a:ln w="9525" cap="flat">
                <a:solidFill>
                  <a:srgbClr val="0E83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Tue 18</c:v>
                  </c:pt>
                  <c:pt idx="1">
                    <c:v>Wed 19</c:v>
                  </c:pt>
                  <c:pt idx="2">
                    <c:v>Thu 20</c:v>
                  </c:pt>
                  <c:pt idx="3">
                    <c:v>Fri 21</c:v>
                  </c:pt>
                  <c:pt idx="4">
                    <c:v>Sat 22</c:v>
                  </c:pt>
                  <c:pt idx="5">
                    <c:v>Sun 23</c:v>
                  </c:pt>
                  <c:pt idx="6">
                    <c:v>Mon 24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578282</c:v>
                </c:pt>
                <c:pt idx="1">
                  <c:v>675027</c:v>
                </c:pt>
                <c:pt idx="2">
                  <c:v>702646</c:v>
                </c:pt>
                <c:pt idx="3">
                  <c:v>595986</c:v>
                </c:pt>
                <c:pt idx="4">
                  <c:v>708172</c:v>
                </c:pt>
                <c:pt idx="5">
                  <c:v>586621</c:v>
                </c:pt>
                <c:pt idx="6">
                  <c:v>752227</c:v>
                </c:pt>
              </c:numCache>
            </c:numRef>
          </c:val>
          <c:smooth val="0"/>
        </c:ser>
        <c:dLbls>
          <c:numFmt formatCode="$#,##0,K" sourceLinked="0"/>
          <c:txPr>
            <a:bodyPr/>
            <a:lstStyle/>
            <a:p>
              <a:pPr>
                <a:defRPr b="0" i="0" strike="noStrike" sz="1000" u="none">
                  <a:solidFill>
                    <a:srgbClr val="0F2A4A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1E7EE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1E7EE"/>
              </a:solidFill>
              <a:prstDash val="solid"/>
              <a:round/>
            </a:ln>
          </c:spPr>
        </c:majorGridlines>
        <c:numFmt formatCode="$#,##0,K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0F2A4A"/>
                </a:solidFill>
                <a:latin typeface="Calibri"/>
              </a:defRPr>
            </a:pPr>
            <a:r>
              <a:rPr sz="1300" b="1" i="0" u="none" strike="noStrike">
                <a:solidFill>
                  <a:srgbClr val="0F2A4A"/>
                </a:solidFill>
                <a:latin typeface="Calibri"/>
              </a:rPr>
              <a:t>Revenue by Product ($)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E8388"/>
            </a:solidFill>
            <a:effectLst/>
          </c:spPr>
          <c:invertIfNegative val="0"/>
          <c:dLbls>
            <c:numFmt formatCode="$#,##0,K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83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2A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2A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2A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F2A4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F2A4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F2A4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F2A4A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Running Shoes</c:v>
                  </c:pt>
                  <c:pt idx="1">
                    <c:v>Tennis Shoes</c:v>
                  </c:pt>
                  <c:pt idx="2">
                    <c:v>Walking Shoes</c:v>
                  </c:pt>
                  <c:pt idx="3">
                    <c:v>Cycling Shoes</c:v>
                  </c:pt>
                  <c:pt idx="4">
                    <c:v>Climbing Shoes</c:v>
                  </c:pt>
                  <c:pt idx="5">
                    <c:v>Sandals</c:v>
                  </c:pt>
                  <c:pt idx="6">
                    <c:v>Gift Cards</c:v>
                  </c:pt>
                  <c:pt idx="7">
                    <c:v>Flip-Flops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1616946</c:v>
                </c:pt>
                <c:pt idx="1">
                  <c:v>971944</c:v>
                </c:pt>
                <c:pt idx="2">
                  <c:v>688161</c:v>
                </c:pt>
                <c:pt idx="3">
                  <c:v>529320</c:v>
                </c:pt>
                <c:pt idx="4">
                  <c:v>373905</c:v>
                </c:pt>
                <c:pt idx="5">
                  <c:v>103117</c:v>
                </c:pt>
                <c:pt idx="6">
                  <c:v>97511</c:v>
                </c:pt>
                <c:pt idx="7">
                  <c:v>71837</c:v>
                </c:pt>
              </c:numCache>
            </c:numRef>
          </c:val>
        </c:ser>
        <c:dLbls>
          <c:numFmt formatCode="$#,##0,K" sourceLinked="0"/>
          <c:txPr>
            <a:bodyPr/>
            <a:lstStyle/>
            <a:p>
              <a:pPr>
                <a:defRPr b="0" i="0" strike="noStrike" sz="1000" u="none">
                  <a:solidFill>
                    <a:srgbClr val="0F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1E7EE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12700" cap="flat">
              <a:solidFill>
                <a:srgbClr val="E1E7EE"/>
              </a:solidFill>
              <a:prstDash val="solid"/>
              <a:round/>
            </a:ln>
          </c:spPr>
        </c:majorGridlines>
        <c:numFmt formatCode="$#,##0,K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0F2A4A"/>
                </a:solidFill>
                <a:latin typeface="Calibri"/>
              </a:defRPr>
            </a:pPr>
            <a:r>
              <a:rPr sz="1300" b="1" i="0" u="none" strike="noStrike">
                <a:solidFill>
                  <a:srgbClr val="0F2A4A"/>
                </a:solidFill>
                <a:latin typeface="Calibri"/>
              </a:rPr>
              <a:t>Top 8 States by Revenue ($)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E3A008"/>
            </a:solidFill>
            <a:effectLst/>
          </c:spPr>
          <c:invertIfNegative val="0"/>
          <c:dLbls>
            <c:numFmt formatCode="$#,##0,K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3A00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3A00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3A00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2A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F2A4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F2A4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F2A4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F2A4A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California</c:v>
                  </c:pt>
                  <c:pt idx="1">
                    <c:v>Texas</c:v>
                  </c:pt>
                  <c:pt idx="2">
                    <c:v>Florida</c:v>
                  </c:pt>
                  <c:pt idx="3">
                    <c:v>New York</c:v>
                  </c:pt>
                  <c:pt idx="4">
                    <c:v>Ohio</c:v>
                  </c:pt>
                  <c:pt idx="5">
                    <c:v>Virginia</c:v>
                  </c:pt>
                  <c:pt idx="6">
                    <c:v>Pennsylvania</c:v>
                  </c:pt>
                  <c:pt idx="7">
                    <c:v>Washington DC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535787</c:v>
                </c:pt>
                <c:pt idx="1">
                  <c:v>520531</c:v>
                </c:pt>
                <c:pt idx="2">
                  <c:v>400842</c:v>
                </c:pt>
                <c:pt idx="3">
                  <c:v>258707</c:v>
                </c:pt>
                <c:pt idx="4">
                  <c:v>167654</c:v>
                </c:pt>
                <c:pt idx="5">
                  <c:v>155648</c:v>
                </c:pt>
                <c:pt idx="6">
                  <c:v>150073</c:v>
                </c:pt>
                <c:pt idx="7">
                  <c:v>132300</c:v>
                </c:pt>
              </c:numCache>
            </c:numRef>
          </c:val>
        </c:ser>
        <c:dLbls>
          <c:numFmt formatCode="$#,##0,K" sourceLinked="0"/>
          <c:txPr>
            <a:bodyPr/>
            <a:lstStyle/>
            <a:p>
              <a:pPr>
                <a:defRPr b="0" i="0" strike="noStrike" sz="1000" u="none">
                  <a:solidFill>
                    <a:srgbClr val="0F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1E7EE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12700" cap="flat">
              <a:solidFill>
                <a:srgbClr val="E1E7EE"/>
              </a:solidFill>
              <a:prstDash val="solid"/>
              <a:round/>
            </a:ln>
          </c:spPr>
        </c:majorGridlines>
        <c:numFmt formatCode="$#,##0,K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1" i="0" u="none" strike="noStrike">
                <a:solidFill>
                  <a:srgbClr val="0F2A4A"/>
                </a:solidFill>
                <a:latin typeface="Calibri"/>
              </a:defRPr>
            </a:pPr>
            <a:r>
              <a:rPr sz="1250" b="1" i="0" u="none" strike="noStrike">
                <a:solidFill>
                  <a:srgbClr val="0F2A4A"/>
                </a:solidFill>
                <a:latin typeface="Calibri"/>
              </a:rPr>
              <a:t>Orders by Day of Week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0E83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83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2A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2A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2A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F2A4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F2A4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F2A4A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1204</c:v>
                </c:pt>
                <c:pt idx="1">
                  <c:v>945</c:v>
                </c:pt>
                <c:pt idx="2">
                  <c:v>1090</c:v>
                </c:pt>
                <c:pt idx="3">
                  <c:v>1134</c:v>
                </c:pt>
                <c:pt idx="4">
                  <c:v>966</c:v>
                </c:pt>
                <c:pt idx="5">
                  <c:v>1147</c:v>
                </c:pt>
                <c:pt idx="6">
                  <c:v>945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F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1E7EE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1" i="0" u="none" strike="noStrike">
                <a:solidFill>
                  <a:srgbClr val="0F2A4A"/>
                </a:solidFill>
                <a:latin typeface="Calibri"/>
              </a:defRPr>
            </a:pPr>
            <a:r>
              <a:rPr sz="1250" b="1" i="0" u="none" strike="noStrike">
                <a:solidFill>
                  <a:srgbClr val="0F2A4A"/>
                </a:solidFill>
                <a:latin typeface="Calibri"/>
              </a:rPr>
              <a:t>Orders by Time of Day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0F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2A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2A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3A00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2A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F2A4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Overnight
(10pm–6am)</c:v>
                  </c:pt>
                  <c:pt idx="1">
                    <c:v>Early AM
(6–10am)</c:v>
                  </c:pt>
                  <c:pt idx="2">
                    <c:v>Late Morning
(10am–2pm)</c:v>
                  </c:pt>
                  <c:pt idx="3">
                    <c:v>Afternoon
(2–6pm)</c:v>
                  </c:pt>
                  <c:pt idx="4">
                    <c:v>Evening
(6–10pm)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773</c:v>
                </c:pt>
                <c:pt idx="1">
                  <c:v>909</c:v>
                </c:pt>
                <c:pt idx="2">
                  <c:v>2173</c:v>
                </c:pt>
                <c:pt idx="3">
                  <c:v>1929</c:v>
                </c:pt>
                <c:pt idx="4">
                  <c:v>1647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F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1E7EE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A2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1" i="0" u="none" strike="noStrike">
                <a:solidFill>
                  <a:srgbClr val="0F2A4A"/>
                </a:solidFill>
                <a:latin typeface="Calibri"/>
              </a:defRPr>
            </a:pPr>
            <a:r>
              <a:rPr sz="1250" b="1" i="0" u="none" strike="noStrike">
                <a:solidFill>
                  <a:srgbClr val="0F2A4A"/>
                </a:solidFill>
                <a:latin typeface="Calibri"/>
              </a:rPr>
              <a:t>Share of Customers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8388"/>
              </a:solidFill>
              <a:effectLst/>
            </c:spPr>
          </c:dPt>
          <c:dPt>
            <c:idx val="1"/>
            <c:bubble3D val="0"/>
            <c:spPr>
              <a:solidFill>
                <a:srgbClr val="C7CEDB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Repeat customers</c:v>
                </c:pt>
                <c:pt idx="1">
                  <c:v>One-time customers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2039</c:v>
                </c:pt>
                <c:pt idx="1">
                  <c:v>2392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1A23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1" i="0" u="none" strike="noStrike">
                <a:solidFill>
                  <a:srgbClr val="0F2A4A"/>
                </a:solidFill>
                <a:latin typeface="Calibri"/>
              </a:defRPr>
            </a:pPr>
            <a:r>
              <a:rPr sz="1250" b="1" i="0" u="none" strike="noStrike">
                <a:solidFill>
                  <a:srgbClr val="0F2A4A"/>
                </a:solidFill>
                <a:latin typeface="Calibri"/>
              </a:rPr>
              <a:t>Share of Revenue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3A008"/>
              </a:solidFill>
              <a:effectLst/>
            </c:spPr>
          </c:dPt>
          <c:dPt>
            <c:idx val="1"/>
            <c:bubble3D val="0"/>
            <c:spPr>
              <a:solidFill>
                <a:srgbClr val="C7CEDB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Repeat customers</c:v>
                </c:pt>
                <c:pt idx="1">
                  <c:v>One-time customers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3120248</c:v>
                </c:pt>
                <c:pt idx="1">
                  <c:v>1478712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1A23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1" i="0" u="none" strike="noStrike">
                <a:solidFill>
                  <a:srgbClr val="0F2A4A"/>
                </a:solidFill>
                <a:latin typeface="Calibri"/>
              </a:defRPr>
            </a:pPr>
            <a:r>
              <a:rPr sz="1250" b="1" i="0" u="none" strike="noStrike">
                <a:solidFill>
                  <a:srgbClr val="0F2A4A"/>
                </a:solidFill>
                <a:latin typeface="Calibri"/>
              </a:rPr>
              <a:t>Share of Total Revenue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Revenue</c:v>
                </c:pt>
              </c:strCache>
            </c:strRef>
          </c:tx>
          <c:spPr>
            <a:solidFill>
              <a:srgbClr val="0F2A4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2A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83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7CED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Top 10% of
customers</c:v>
                  </c:pt>
                  <c:pt idx="1">
                    <c:v>Next 10% of
customers</c:v>
                  </c:pt>
                  <c:pt idx="2">
                    <c:v>Remaining 80%
of customers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21.9</c:v>
                </c:pt>
                <c:pt idx="1">
                  <c:v>15.9</c:v>
                </c:pt>
                <c:pt idx="2">
                  <c:v>62.2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F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1E7EE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7385F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17385F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480560"/>
            <a:ext cx="1463040" cy="1463040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C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PERFORMANCE BRIEFING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233172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Your Sales Data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Telling You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plain-language walkthrough of your Shopify sales — every chart answers one business question, and every recommendation follows directly from the numbers.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5257800"/>
            <a:ext cx="2011680" cy="0"/>
          </a:xfrm>
          <a:prstGeom prst="line">
            <a:avLst/>
          </a:prstGeom>
          <a:noFill/>
          <a:ln w="31750">
            <a:solidFill>
              <a:srgbClr val="E3A00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440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Sales Window · 18–24 March 2025   |   7,431 Orders   ·   4,431 Customers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6263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P Suman Sangeet · Data Analyst &amp; AI Intern, LABMENTIX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is the store doing overall?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numbers that summarize the entire week — everything else in this deck explains what's behind them.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2958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54864" cy="1417320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02536"/>
            <a:ext cx="3072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$4.60M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04672" y="2962656"/>
            <a:ext cx="307238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7 days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25112" y="1874520"/>
            <a:ext cx="352958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25112" y="1874520"/>
            <a:ext cx="54864" cy="141732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4581144" y="2002536"/>
            <a:ext cx="3072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53712" y="2240280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7,431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81144" y="2962656"/>
            <a:ext cx="307238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order per checkout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01584" y="1874520"/>
            <a:ext cx="352958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01584" y="1874520"/>
            <a:ext cx="54864" cy="1417320"/>
          </a:xfrm>
          <a:prstGeom prst="rect">
            <a:avLst/>
          </a:prstGeom>
          <a:solidFill>
            <a:srgbClr val="E3A008"/>
          </a:solidFill>
          <a:ln/>
        </p:spPr>
      </p:sp>
      <p:sp>
        <p:nvSpPr>
          <p:cNvPr id="17" name="Text 15"/>
          <p:cNvSpPr/>
          <p:nvPr/>
        </p:nvSpPr>
        <p:spPr>
          <a:xfrm>
            <a:off x="8357616" y="2002536"/>
            <a:ext cx="3072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30184" y="2240280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$618.89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357616" y="2962656"/>
            <a:ext cx="307238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per order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566160"/>
            <a:ext cx="352958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566160"/>
            <a:ext cx="54864" cy="1417320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3694176"/>
            <a:ext cx="3072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7240" y="3931920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4,431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804672" y="4654296"/>
            <a:ext cx="307238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this week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25112" y="3566160"/>
            <a:ext cx="352958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25112" y="3566160"/>
            <a:ext cx="54864" cy="1417320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27" name="Text 25"/>
          <p:cNvSpPr/>
          <p:nvPr/>
        </p:nvSpPr>
        <p:spPr>
          <a:xfrm>
            <a:off x="4581144" y="3694176"/>
            <a:ext cx="3072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PURCHASE RATE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53712" y="3931920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46.0%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4581144" y="4654296"/>
            <a:ext cx="307238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 more than once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01584" y="3566160"/>
            <a:ext cx="352958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01584" y="3566160"/>
            <a:ext cx="54864" cy="141732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2" name="Text 30"/>
          <p:cNvSpPr/>
          <p:nvPr/>
        </p:nvSpPr>
        <p:spPr>
          <a:xfrm>
            <a:off x="8357616" y="3694176"/>
            <a:ext cx="3072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FREQUENCY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330184" y="3931920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1.68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8357616" y="4654296"/>
            <a:ext cx="307238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per customer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507492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6E4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68680" y="514807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C6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algn="l" indent="0" marL="0">
              <a:buNone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store did $4.6M in sales this week at a healthy $619 average order — and nearly half of your customers already came back for more.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Sales Snapshot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revenue going up or down?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11091672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1206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6E4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519379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C6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MEANS:  </a:t>
            </a:r>
            <a:pPr algn="l" indent="0" marL="0">
              <a:buNone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rose 30% from the slowest day (Tuesday, $578K) to the busiest (Monday, $752K) — no crashes, no one-off spikes. Growth looks organic and healthy.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Sales Snapshot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actually selling?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11091672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1206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6E4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519379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C6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MEANS:  </a:t>
            </a:r>
            <a:pPr algn="l" indent="0" marL="0">
              <a:buNone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Running, Tennis and Walking Shoes alone drive 71% of all revenue. Sandals, Gift Cards and Flip-Flops trail far behind — a sign of where inventory and marketing dollars work hardest.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Sales Snapshot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are your customers?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11091672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1206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6E4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519379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C6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MEANS:  </a:t>
            </a:r>
            <a:pPr algn="l" indent="0" marL="0">
              <a:buNone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California, Texas and Florida together bring in 32% of revenue — but no single state dominates. Washington, D.C. is your single biggest city market at $132K.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Sales Snapshot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PATTERNS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do customers actually shop?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53492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080760" y="1417320"/>
          <a:ext cx="5559552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07492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6E4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868680" y="514807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C6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MEANS:  </a:t>
            </a:r>
            <a:pPr algn="l" indent="0" marL="0">
              <a:buNone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and Saturday are your busiest order days, and over half of all orders land between 10am and 6pm. Time promotions and staffing to this window.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5720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Sales Snapshot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LOYALTY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customers come back?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49377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035040" y="1417320"/>
          <a:ext cx="49377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07492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6E4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868680" y="514807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C6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MEANS:  </a:t>
            </a:r>
            <a:pPr algn="l" indent="0" marL="0">
              <a:buNone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customers are only 46% of your customers, but they generate 68% of your revenue — the average repeat customer is worth about 2.5x a one-time buyer.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5720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Sales Snapshot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are your best customers?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63093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178040" y="1417320"/>
            <a:ext cx="448056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178040" y="1417320"/>
            <a:ext cx="54864" cy="1115568"/>
          </a:xfrm>
          <a:prstGeom prst="rect">
            <a:avLst/>
          </a:prstGeom>
          <a:solidFill>
            <a:srgbClr val="E3A008"/>
          </a:solidFill>
          <a:ln/>
        </p:spPr>
      </p:sp>
      <p:sp>
        <p:nvSpPr>
          <p:cNvPr id="7" name="Text 4"/>
          <p:cNvSpPr/>
          <p:nvPr/>
        </p:nvSpPr>
        <p:spPr>
          <a:xfrm>
            <a:off x="7434072" y="154533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#1 CUSTOMER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406640" y="17830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$7,628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434072" y="220370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#1556 — 2 orders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178040" y="2670048"/>
            <a:ext cx="448056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178040" y="2670048"/>
            <a:ext cx="54864" cy="1115568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12" name="Text 9"/>
          <p:cNvSpPr/>
          <p:nvPr/>
        </p:nvSpPr>
        <p:spPr>
          <a:xfrm>
            <a:off x="7434072" y="279806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LOYAL SHOPPER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406640" y="303580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orders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434072" y="34564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#6056 — $4,272 spent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178040" y="3922776"/>
            <a:ext cx="448056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178040" y="3922776"/>
            <a:ext cx="54864" cy="1115568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17" name="Text 14"/>
          <p:cNvSpPr/>
          <p:nvPr/>
        </p:nvSpPr>
        <p:spPr>
          <a:xfrm>
            <a:off x="7434072" y="405079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TOP-20% CUSTOMERS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406640" y="428853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37.8%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7434072" y="47091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revenue from 1 in 5 customers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507492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6E4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68680" y="514807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C6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MEANS:  </a:t>
            </a:r>
            <a:pPr algn="l" indent="0" marL="0">
              <a:buNone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revenue isn't dangerously dependent on a few accounts — the top 20% of customers drive under 40% of sales — but a small group of repeat, high-spend customers is disproportionately valuable.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Sales Snapshot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·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should you do about it?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below follows directly from a chart already shown — nothing here is a guess.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84048" cy="384048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13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911096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promotions to Monday &amp; Saturday, 10am–6pm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2221992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your proven highest-traffic windows (Slide 6) — put paid ads and email sends here, not spread evenly across the week.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92240" y="1965960"/>
            <a:ext cx="384048" cy="384048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9613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40880" y="1911096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Running, Tennis &amp; Walking Shoes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40880" y="2221992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3 categories already drive 71% of revenue (Slide 4). Prioritise stock levels and homepage placement for them ahead of the peak window.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384048" cy="384048"/>
          </a:xfrm>
          <a:prstGeom prst="ellipse">
            <a:avLst/>
          </a:prstGeom>
          <a:solidFill>
            <a:srgbClr val="E3A00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8816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831336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your slow-moving product lines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4142232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Sandals, Gift Cards and Flip-Flops trail far behind (Slide 4) — worth testing better placement or trimming inventory investment there.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92240" y="3886200"/>
            <a:ext cx="384048" cy="384048"/>
          </a:xfrm>
          <a:prstGeom prst="ellipse">
            <a:avLst/>
          </a:prstGeom>
          <a:solidFill>
            <a:srgbClr val="E85D4C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38816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880" y="3831336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marketing in your top states, test adjacent ones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040880" y="4142232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CA, TX and FL are proven demand centers (Slide 5); NY, OH and PA already show organic traction worth testing with paid acquisition.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6E4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8680" y="542239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C6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 </a:t>
            </a:r>
            <a:pPr algn="l" indent="0" marL="0">
              <a:buNone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do only one thing from this page, fix the Monday/Saturday promotion timing — it's free to implement and targets demand that's already proven in your data.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Sales Snapshot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· 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you turn buyers into repeat customers?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customers are worth 2.5x more (Slide 7) — this is the highest-leverage lever available to you.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84048" cy="384048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13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911096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follow-up offer within 48 hours of checkout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2221992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customers who return, tend to return within about 65 hours of their first order — a short, well-defined re-engagement window.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92240" y="1965960"/>
            <a:ext cx="384048" cy="384048"/>
          </a:xfrm>
          <a:prstGeom prst="ellipse">
            <a:avLst/>
          </a:prstGeom>
          <a:solidFill>
            <a:srgbClr val="E3A008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9613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40880" y="1911096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simple loyalty perk for your top spenders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40880" y="2221992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group of customers (7 orders in a week) are worth 5–7x the average — protect them with early access or free shipping.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384048" cy="384048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8816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831336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one-time buyers with a second-purchase incentive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4142232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2,392 customers bought only once (Slide 7). Converting just 10% of them into repeat buyers meaningfully lifts your 46% repeat rate.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92240" y="3886200"/>
            <a:ext cx="384048" cy="384048"/>
          </a:xfrm>
          <a:prstGeom prst="ellipse">
            <a:avLst/>
          </a:prstGeom>
          <a:solidFill>
            <a:srgbClr val="E85D4C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38816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880" y="3831336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this monthly, not just this week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040880" y="4142232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snapshot covers 7 days. The same dashboard will show month-over-month growth and true lifetime value once more history is loaded.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6E4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8680" y="542239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C6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 </a:t>
            </a:r>
            <a:pPr algn="l" indent="0" marL="0">
              <a:buNone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do only one thing from this page, launch the 48-hour follow-up offer — it directly targets the ~65-hour window where repeat purchases already happen naturally.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Sales Snapshot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7385F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114800" cy="4114800"/>
          </a:xfrm>
          <a:prstGeom prst="ellipse">
            <a:avLst/>
          </a:prstGeom>
          <a:solidFill>
            <a:srgbClr val="17385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C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THINGS TO REMEMBER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548640" cy="548640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139903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customers are worth 2.5x more  </a:t>
            </a:r>
            <a:pPr indent="0" marL="0">
              <a:buNone/>
            </a:pPr>
            <a:r>
              <a:rPr lang="en-US" sz="1500" i="1" dirty="0">
                <a:solidFill>
                  <a:srgbClr val="AF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retention beats acquisition every time.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08760" y="263347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shoe categories drive 71% of revenue  </a:t>
            </a:r>
            <a:pPr indent="0" marL="0">
              <a:buNone/>
            </a:pPr>
            <a:r>
              <a:rPr lang="en-US" sz="1500" i="1" dirty="0">
                <a:solidFill>
                  <a:srgbClr val="AF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protect and prioritise them.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31520" y="3886200"/>
            <a:ext cx="548640" cy="548640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886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08760" y="386791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peaks Mon/Sat, 10am–6pm  </a:t>
            </a:r>
            <a:pPr indent="0" marL="0">
              <a:buNone/>
            </a:pPr>
            <a:r>
              <a:rPr lang="en-US" sz="1500" i="1" dirty="0">
                <a:solidFill>
                  <a:srgbClr val="AF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spend your marketing budget there.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31520" y="5394960"/>
            <a:ext cx="2011680" cy="0"/>
          </a:xfrm>
          <a:prstGeom prst="line">
            <a:avLst/>
          </a:prstGeom>
          <a:noFill/>
          <a:ln w="31750">
            <a:solidFill>
              <a:srgbClr val="E3A00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55778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dashboard, DAX measures, and the complete written analysis are available in the companion Power BI file and report.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·  P Suman Sangeet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2026-08-15T14:44:49Z</dcterms:created>
  <dcterms:modified xsi:type="dcterms:W3CDTF">2026-08-15T14:44:49Z</dcterms:modified>
</cp:coreProperties>
</file>